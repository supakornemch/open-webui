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8351215" y="6858000"/>
            <a:ext cx="5029200" cy="201168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Shape 1"/>
          <p:cNvSpPr/>
          <p:nvPr/>
        </p:nvSpPr>
        <p:spPr>
          <a:xfrm rot="-480000">
            <a:off x="8351215" y="6537960"/>
            <a:ext cx="3657600" cy="73152"/>
          </a:xfrm>
          <a:prstGeom prst="rect">
            <a:avLst/>
          </a:prstGeom>
          <a:solidFill>
            <a:srgbClr val="E8C86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64008" cy="64008"/>
          </a:xfrm>
          <a:prstGeom prst="ellipse">
            <a:avLst/>
          </a:prstGeom>
          <a:solidFill>
            <a:srgbClr val="D4A43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548640"/>
            <a:ext cx="64008" cy="64008"/>
          </a:xfrm>
          <a:prstGeom prst="ellipse">
            <a:avLst/>
          </a:prstGeom>
          <a:solidFill>
            <a:srgbClr val="1A335C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548640"/>
            <a:ext cx="64008" cy="64008"/>
          </a:xfrm>
          <a:prstGeom prst="ellipse">
            <a:avLst/>
          </a:prstGeom>
          <a:solidFill>
            <a:srgbClr val="1A335C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548640"/>
            <a:ext cx="64008" cy="64008"/>
          </a:xfrm>
          <a:prstGeom prst="ellipse">
            <a:avLst/>
          </a:prstGeom>
          <a:solidFill>
            <a:srgbClr val="1A335C"/>
          </a:solidFill>
          <a:ln/>
        </p:spPr>
      </p:sp>
      <p:sp>
        <p:nvSpPr>
          <p:cNvPr id="8" name="Shape 6"/>
          <p:cNvSpPr/>
          <p:nvPr/>
        </p:nvSpPr>
        <p:spPr>
          <a:xfrm>
            <a:off x="1353312" y="548640"/>
            <a:ext cx="64008" cy="64008"/>
          </a:xfrm>
          <a:prstGeom prst="ellipse">
            <a:avLst/>
          </a:prstGeom>
          <a:solidFill>
            <a:srgbClr val="1A335C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548640"/>
            <a:ext cx="64008" cy="64008"/>
          </a:xfrm>
          <a:prstGeom prst="ellipse">
            <a:avLst/>
          </a:prstGeom>
          <a:solidFill>
            <a:srgbClr val="1A335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8C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HAADTHIP · ENTERPRISE CHAT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Chatbot Use Cases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สามกรณีศึกษาที่นำ Generative AI มาใช้จริงในองค์กร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3154680" cy="457200"/>
          </a:xfrm>
          <a:prstGeom prst="rect">
            <a:avLst/>
          </a:prstGeom>
          <a:solidFill>
            <a:srgbClr val="1A335C"/>
          </a:solidFill>
          <a:ln w="9525">
            <a:solidFill>
              <a:srgbClr val="D4A4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4348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 · E-Expense FAQ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31920" y="4434840"/>
            <a:ext cx="3154680" cy="457200"/>
          </a:xfrm>
          <a:prstGeom prst="rect">
            <a:avLst/>
          </a:prstGeom>
          <a:solidFill>
            <a:srgbClr val="1A335C"/>
          </a:solidFill>
          <a:ln w="9525">
            <a:solidFill>
              <a:srgbClr val="D4A4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44348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 · ผู้ช่วยจัดซื้อ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0" y="4434840"/>
            <a:ext cx="3154680" cy="457200"/>
          </a:xfrm>
          <a:prstGeom prst="rect">
            <a:avLst/>
          </a:prstGeom>
          <a:solidFill>
            <a:srgbClr val="1A335C"/>
          </a:solidFill>
          <a:ln w="9525">
            <a:solidFill>
              <a:srgbClr val="D4A4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44348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 · General Knowledge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94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 PoC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502920"/>
            <a:ext cx="11588191" cy="10973"/>
          </a:xfrm>
          <a:prstGeom prst="rect">
            <a:avLst/>
          </a:prstGeom>
          <a:solidFill>
            <a:srgbClr val="E2E8F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6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ภาพรวม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สาม Use Cases ที่จะทำ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ทั้งสามกรณีใช้ Foundation เดียวกัน: Azure AI Search + LLM + Channel (Teams/Open WebUI)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965960"/>
            <a:ext cx="3611880" cy="128016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2743200" y="2423160"/>
            <a:ext cx="1097280" cy="292608"/>
          </a:xfrm>
          <a:prstGeom prst="rect">
            <a:avLst/>
          </a:prstGeom>
          <a:solidFill>
            <a:srgbClr val="EEF3FA"/>
          </a:solidFill>
          <a:ln w="9525">
            <a:solidFill>
              <a:srgbClr val="D4A4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423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FAQ · RAG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246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 E-Expense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68680" y="3840480"/>
            <a:ext cx="457200" cy="27432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97764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3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อ่าน knowledge ที่ flatten จาก decision tree แล้วทำ RAG โดย user ถามผ่าน MS Teams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5276088"/>
            <a:ext cx="73152" cy="73152"/>
          </a:xfrm>
          <a:prstGeom prst="ellipse">
            <a:avLst/>
          </a:prstGeom>
          <a:solidFill>
            <a:srgbClr val="D4A437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128" y="52120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MS Teams App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5550408"/>
            <a:ext cx="73152" cy="73152"/>
          </a:xfrm>
          <a:prstGeom prst="ellipse">
            <a:avLst/>
          </a:prstGeom>
          <a:solidFill>
            <a:srgbClr val="D4A437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54864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Search (FAQ idx)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5824728"/>
            <a:ext cx="73152" cy="73152"/>
          </a:xfrm>
          <a:prstGeom prst="ellipse">
            <a:avLst/>
          </a:prstGeom>
          <a:solidFill>
            <a:srgbClr val="D4A437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" y="57607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GPT-5.4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1965960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0" y="1965960"/>
            <a:ext cx="3611880" cy="128016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25" name="Shape 23"/>
          <p:cNvSpPr/>
          <p:nvPr/>
        </p:nvSpPr>
        <p:spPr>
          <a:xfrm>
            <a:off x="6583680" y="2423160"/>
            <a:ext cx="1097280" cy="292608"/>
          </a:xfrm>
          <a:prstGeom prst="rect">
            <a:avLst/>
          </a:prstGeom>
          <a:solidFill>
            <a:srgbClr val="EEF3FA"/>
          </a:solidFill>
          <a:ln w="9525">
            <a:solidFill>
              <a:srgbClr val="1F8A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423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 · Data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3246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ผู้ช่วยจัดซื้อ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709160" y="3840480"/>
            <a:ext cx="457200" cy="27432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397764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3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Bot อ่าน master Excel แล้วเทียบตอบราคา พร้อมเรียก Python Executor คำนวณราคาได้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09160" y="5276088"/>
            <a:ext cx="73152" cy="73152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52120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Excel Master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5550408"/>
            <a:ext cx="73152" cy="73152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33" name="Text 31"/>
          <p:cNvSpPr/>
          <p:nvPr/>
        </p:nvSpPr>
        <p:spPr>
          <a:xfrm>
            <a:off x="4864608" y="54864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Python Executor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09160" y="5824728"/>
            <a:ext cx="73152" cy="73152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35" name="Text 33"/>
          <p:cNvSpPr/>
          <p:nvPr/>
        </p:nvSpPr>
        <p:spPr>
          <a:xfrm>
            <a:off x="4864608" y="57607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Tool-calling LLM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29600" y="1965960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29600" y="1965960"/>
            <a:ext cx="3611880" cy="128016"/>
          </a:xfrm>
          <a:prstGeom prst="rect">
            <a:avLst/>
          </a:prstGeom>
          <a:solidFill>
            <a:srgbClr val="1A335C"/>
          </a:solidFill>
          <a:ln/>
        </p:spPr>
      </p:sp>
      <p:sp>
        <p:nvSpPr>
          <p:cNvPr id="38" name="Text 36"/>
          <p:cNvSpPr/>
          <p:nvPr/>
        </p:nvSpPr>
        <p:spPr>
          <a:xfrm>
            <a:off x="8549640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33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39" name="Shape 37"/>
          <p:cNvSpPr/>
          <p:nvPr/>
        </p:nvSpPr>
        <p:spPr>
          <a:xfrm>
            <a:off x="10424160" y="2423160"/>
            <a:ext cx="1097280" cy="292608"/>
          </a:xfrm>
          <a:prstGeom prst="rect">
            <a:avLst/>
          </a:prstGeom>
          <a:solidFill>
            <a:srgbClr val="EEF3FA"/>
          </a:solidFill>
          <a:ln w="9525">
            <a:solidFill>
              <a:srgbClr val="1A33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424160" y="2423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3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 · Tool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49640" y="3246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Knowledge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8549640" y="3840480"/>
            <a:ext cx="457200" cy="27432"/>
          </a:xfrm>
          <a:prstGeom prst="rect">
            <a:avLst/>
          </a:prstGeom>
          <a:solidFill>
            <a:srgbClr val="1A335C"/>
          </a:solidFill>
          <a:ln/>
        </p:spPr>
      </p:sp>
      <p:sp>
        <p:nvSpPr>
          <p:cNvPr id="43" name="Text 41"/>
          <p:cNvSpPr/>
          <p:nvPr/>
        </p:nvSpPr>
        <p:spPr>
          <a:xfrm>
            <a:off x="8549640" y="397764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3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Ingest HR policy PDF, troubleshooting guide เข้า Azure AI Search แล้วเขียน tool ไปเรียก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549640" y="5276088"/>
            <a:ext cx="73152" cy="73152"/>
          </a:xfrm>
          <a:prstGeom prst="ellipse">
            <a:avLst/>
          </a:prstGeom>
          <a:solidFill>
            <a:srgbClr val="1A335C"/>
          </a:solidFill>
          <a:ln/>
        </p:spPr>
      </p:sp>
      <p:sp>
        <p:nvSpPr>
          <p:cNvPr id="45" name="Text 43"/>
          <p:cNvSpPr/>
          <p:nvPr/>
        </p:nvSpPr>
        <p:spPr>
          <a:xfrm>
            <a:off x="8705088" y="52120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Doc Intelligence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549640" y="5550408"/>
            <a:ext cx="73152" cy="73152"/>
          </a:xfrm>
          <a:prstGeom prst="ellipse">
            <a:avLst/>
          </a:prstGeom>
          <a:solidFill>
            <a:srgbClr val="1A335C"/>
          </a:solidFill>
          <a:ln/>
        </p:spPr>
      </p:sp>
      <p:sp>
        <p:nvSpPr>
          <p:cNvPr id="47" name="Text 45"/>
          <p:cNvSpPr/>
          <p:nvPr/>
        </p:nvSpPr>
        <p:spPr>
          <a:xfrm>
            <a:off x="8705088" y="54864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Search KB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549640" y="5824728"/>
            <a:ext cx="73152" cy="73152"/>
          </a:xfrm>
          <a:prstGeom prst="ellipse">
            <a:avLst/>
          </a:prstGeom>
          <a:solidFill>
            <a:srgbClr val="1A335C"/>
          </a:solidFill>
          <a:ln/>
        </p:spPr>
      </p:sp>
      <p:sp>
        <p:nvSpPr>
          <p:cNvPr id="49" name="Text 47"/>
          <p:cNvSpPr/>
          <p:nvPr/>
        </p:nvSpPr>
        <p:spPr>
          <a:xfrm>
            <a:off x="8705088" y="57607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Tool / Native Mode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46304" y="6437376"/>
            <a:ext cx="11588191" cy="10973"/>
          </a:xfrm>
          <a:prstGeom prst="rect">
            <a:avLst/>
          </a:prstGeom>
          <a:solidFill>
            <a:srgbClr val="E2E8F2"/>
          </a:solidFill>
          <a:ln/>
        </p:spPr>
      </p:sp>
      <p:sp>
        <p:nvSpPr>
          <p:cNvPr id="51" name="Text 4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Haadthip · EnterpriseChat PoC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Azure AI Search · AI Foundry · MS Teams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09728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071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4572000" y="2103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C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 E-Expense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4617720" y="4160520"/>
            <a:ext cx="640080" cy="457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43434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ใส่ Knowledge ไว้แล้ว RAG เลย — user ถามผ่าน MS Teams app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502920"/>
            <a:ext cx="11588191" cy="10973"/>
          </a:xfrm>
          <a:prstGeom prst="rect">
            <a:avLst/>
          </a:prstGeom>
          <a:solidFill>
            <a:srgbClr val="E2E8F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6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1 · E-EXPENSE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จาก Decision Tree → RAG บน MS Teams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นำ Q&amp;A จาก Excel มา flatten เป็น FAQ docs → embed → hybrid search (BM25 + Vector + Semantic)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057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11580" y="2423160"/>
            <a:ext cx="731520" cy="731520"/>
          </a:xfrm>
          <a:prstGeom prst="ellipse">
            <a:avLst/>
          </a:prstGeom>
          <a:solidFill>
            <a:srgbClr val="1F8A5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1158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XLS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Q&amp;A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Decision tree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(คำถาม + คำตอบ)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60320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770632" y="2194560"/>
            <a:ext cx="2057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33572" y="2423160"/>
            <a:ext cx="731520" cy="731520"/>
          </a:xfrm>
          <a:prstGeom prst="ellipse">
            <a:avLst/>
          </a:prstGeom>
          <a:solidFill>
            <a:srgbClr val="1A335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33572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↯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62072" y="3246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Flatten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62072" y="3657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Trace paths →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42 FAQ documents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82312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992624" y="2194560"/>
            <a:ext cx="2057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55564" y="2423160"/>
            <a:ext cx="731520" cy="731520"/>
          </a:xfrm>
          <a:prstGeom prst="ellipse">
            <a:avLst/>
          </a:prstGeom>
          <a:solidFill>
            <a:srgbClr val="D4A43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55564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84064" y="3246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 + Index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84064" y="3657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text-embedding-3-large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→ eexpense-faq-idx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04304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214616" y="2194560"/>
            <a:ext cx="2057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877556" y="2423160"/>
            <a:ext cx="731520" cy="731520"/>
          </a:xfrm>
          <a:prstGeom prst="ellipse">
            <a:avLst/>
          </a:prstGeom>
          <a:solidFill>
            <a:srgbClr val="1A335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877556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⌕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306056" y="3246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Search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06056" y="3657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BM25 + Vector 3072d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+ Semantic Ranker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226296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436608" y="2194560"/>
            <a:ext cx="2057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099548" y="2423160"/>
            <a:ext cx="731520" cy="731520"/>
          </a:xfrm>
          <a:prstGeom prst="ellipse">
            <a:avLst/>
          </a:prstGeom>
          <a:solidFill>
            <a:srgbClr val="1F8A5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0099548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528048" y="3246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 Teams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528048" y="3657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User ถามผ่าน Teams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→ คำตอบ + ที่มา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5074920"/>
            <a:ext cx="2651760" cy="868680"/>
          </a:xfrm>
          <a:prstGeom prst="rect">
            <a:avLst/>
          </a:prstGeom>
          <a:solidFill>
            <a:srgbClr val="0E1F3F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1663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1554480" y="5166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FAQ documents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337560" y="5074920"/>
            <a:ext cx="2651760" cy="868680"/>
          </a:xfrm>
          <a:prstGeom prst="rect">
            <a:avLst/>
          </a:prstGeom>
          <a:solidFill>
            <a:srgbClr val="0E1F3F"/>
          </a:solidFill>
          <a:ln/>
        </p:spPr>
      </p:sp>
      <p:sp>
        <p:nvSpPr>
          <p:cNvPr id="41" name="Text 39"/>
          <p:cNvSpPr/>
          <p:nvPr/>
        </p:nvSpPr>
        <p:spPr>
          <a:xfrm>
            <a:off x="3520440" y="51663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4343400" y="5166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หมวดหมู่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126480" y="5074920"/>
            <a:ext cx="2651760" cy="868680"/>
          </a:xfrm>
          <a:prstGeom prst="rect">
            <a:avLst/>
          </a:prstGeom>
          <a:solidFill>
            <a:srgbClr val="0E1F3F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51663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3072d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7132320" y="5166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Vector embedding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915400" y="5074920"/>
            <a:ext cx="2651760" cy="868680"/>
          </a:xfrm>
          <a:prstGeom prst="rect">
            <a:avLst/>
          </a:prstGeom>
          <a:solidFill>
            <a:srgbClr val="0E1F3F"/>
          </a:solidFill>
          <a:ln/>
        </p:spPr>
      </p:sp>
      <p:sp>
        <p:nvSpPr>
          <p:cNvPr id="47" name="Text 45"/>
          <p:cNvSpPr/>
          <p:nvPr/>
        </p:nvSpPr>
        <p:spPr>
          <a:xfrm>
            <a:off x="9098280" y="51663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9921240" y="5166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Entry-point questions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46304" y="6437376"/>
            <a:ext cx="11588191" cy="10973"/>
          </a:xfrm>
          <a:prstGeom prst="rect">
            <a:avLst/>
          </a:prstGeom>
          <a:solidFill>
            <a:srgbClr val="E2E8F2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Haadthip · EnterpriseChat PoC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Azure AI Search · AI Foundry · MS Teams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502920"/>
            <a:ext cx="11588191" cy="10973"/>
          </a:xfrm>
          <a:prstGeom prst="rect">
            <a:avLst/>
          </a:prstGeom>
          <a:solidFill>
            <a:srgbClr val="E2E8F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6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1 · E-EXPENSE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Strategy &amp; ตัวอย่างการตอบ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760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63040"/>
            <a:ext cx="5760720" cy="502920"/>
          </a:xfrm>
          <a:prstGeom prst="rect">
            <a:avLst/>
          </a:prstGeom>
          <a:solidFill>
            <a:srgbClr val="0E1F3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630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●  E-Expense Bot   ·   Microsoft Teams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2194560"/>
            <a:ext cx="4206240" cy="640080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11" name="Text 9"/>
          <p:cNvSpPr/>
          <p:nvPr/>
        </p:nvSpPr>
        <p:spPr>
          <a:xfrm>
            <a:off x="1965960" y="21945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3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ขอเบิกค่าอาหารล่วงหน้า 3 วัน มีทดรองจ่าย ต้องทำยังไง?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331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คุณ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063240"/>
            <a:ext cx="4754880" cy="2697480"/>
          </a:xfrm>
          <a:prstGeom prst="rect">
            <a:avLst/>
          </a:prstGeom>
          <a:solidFill>
            <a:srgbClr val="EEF3FA"/>
          </a:solidFill>
          <a:ln w="9525">
            <a:solidFill>
              <a:srgbClr val="D4A4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4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429000"/>
            <a:ext cx="4526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23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เบิกล่วงหน้า 3 วัน + มีทดรองจ่าย →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E1F3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กรอกแบบฟอร์ม PA-001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23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แนบใบเสร็จ พร้อมเอกสารการเดินทาง ส่งผู้อนุมัติลำดับที่ 1 (หัวหน้า)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หลักฐาน: ใบเสร็จ, แผนการเดินทาง, รายชื่อผู้ร่วมเดินทาง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8794A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📖 ที่มา: E-Expense FAQ · หมวด ค่าอาหาร/เบี้ยเลี้ยง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440680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1A33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40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F3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📝 ดูขั้นตอนเพิ่ม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31720" y="5440680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1A33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5440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F3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📎 เปิดเอกสารต้นฉบับ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0" y="5440680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1A33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5440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F3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❓ ถามต่อ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14630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ลำดับการค้นหา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83680" y="1920240"/>
            <a:ext cx="5074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920240"/>
            <a:ext cx="548640" cy="713232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192024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69480" y="19842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Quick Keyword Lookup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69480" y="228600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ตรงกับ QUICK_MAP → ตอบทันที ไม่เรียก API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2724912"/>
            <a:ext cx="5074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2724912"/>
            <a:ext cx="548640" cy="713232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272491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269480" y="27889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BM25 Full-Text (th.lucene)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69480" y="309067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ค้นคำไทย ตัดคำ + scoring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0" y="3529584"/>
            <a:ext cx="5074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3529584"/>
            <a:ext cx="548640" cy="713232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352958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269480" y="359359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Vector Search (cosine)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69480" y="389534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text-embedding-3-large, 3072d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83680" y="4334256"/>
            <a:ext cx="5074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83680" y="4334256"/>
            <a:ext cx="548640" cy="713232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433425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269480" y="439826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RRF Fusion → Semantic Ranker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269480" y="470001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รวมผลแล้วจัดอันดับใหม่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83680" y="5138928"/>
            <a:ext cx="5074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83680" y="5138928"/>
            <a:ext cx="548640" cy="713232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0" y="513892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269480" y="520293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State Machine → ตอบ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269480" y="55046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 ผล=ตอบตรง · หลายผล=ถามยืนยัน · 0=Fallback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46304" y="6437376"/>
            <a:ext cx="11588191" cy="10973"/>
          </a:xfrm>
          <a:prstGeom prst="rect">
            <a:avLst/>
          </a:prstGeom>
          <a:solidFill>
            <a:srgbClr val="E2E8F2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Haadthip · EnterpriseChat PoC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Azure AI Search · AI Foundry · MS Teams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09728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071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4572000" y="2103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C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ผู้ช่วยจัดซื้อ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4617720" y="4160520"/>
            <a:ext cx="640080" cy="457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43434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Bot อ่าน master Excel แล้วเทียบตอบราคา — เรียก Python Executor คำนวณได้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502920"/>
            <a:ext cx="11588191" cy="10973"/>
          </a:xfrm>
          <a:prstGeom prst="rect">
            <a:avLst/>
          </a:prstGeom>
          <a:solidFill>
            <a:srgbClr val="E2E8F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6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2 · จัดซื้อ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อ่าน Master Excel → เทียบราคา → คำนวณด้วย Python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Tool-calling LLM: model ตัดสินใจเองว่าจะค้นราคา / คำนวณ / สรุป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94560"/>
            <a:ext cx="91440" cy="658368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" y="2295144"/>
            <a:ext cx="457200" cy="457200"/>
          </a:xfrm>
          <a:prstGeom prst="ellipse">
            <a:avLst/>
          </a:prstGeom>
          <a:solidFill>
            <a:srgbClr val="1F8A5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2494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User (Teams / Open WebUI)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523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“ราคาท่อ PVC 2 นิ้ว 50 เส้น รวม VAT?”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27980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971800"/>
            <a:ext cx="91440" cy="658368"/>
          </a:xfrm>
          <a:prstGeom prst="rect">
            <a:avLst/>
          </a:prstGeom>
          <a:solidFill>
            <a:srgbClr val="1A335C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" y="3072384"/>
            <a:ext cx="457200" cy="457200"/>
          </a:xfrm>
          <a:prstGeom prst="ellipse">
            <a:avLst/>
          </a:prstGeom>
          <a:solidFill>
            <a:srgbClr val="1A335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9808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30266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LLM (Tool-calling / Native Mode)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33009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วางแผน → เลือก tool → รวมผล → ตอบ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35753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749040"/>
            <a:ext cx="91440" cy="658368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3849624"/>
            <a:ext cx="457200" cy="457200"/>
          </a:xfrm>
          <a:prstGeom prst="ellipse">
            <a:avLst/>
          </a:prstGeom>
          <a:solidFill>
            <a:srgbClr val="D4A43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38039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Tool: read_master_excel()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40782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อ่าน master price list (.xlsx) → filter/sort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" y="43525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526280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526280"/>
            <a:ext cx="91440" cy="658368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2" name="Shape 30"/>
          <p:cNvSpPr/>
          <p:nvPr/>
        </p:nvSpPr>
        <p:spPr>
          <a:xfrm>
            <a:off x="749808" y="4626864"/>
            <a:ext cx="457200" cy="457200"/>
          </a:xfrm>
          <a:prstGeom prst="ellipse">
            <a:avLst/>
          </a:prstGeom>
          <a:solidFill>
            <a:srgbClr val="D4A43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9808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25880" y="45811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Tool: python_calculate()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325880" y="48554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Python Executor: คำนวณราคา, ส่วนลด, VAT, ยอดรวม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" y="51297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5303520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5303520"/>
            <a:ext cx="91440" cy="658368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9" name="Shape 37"/>
          <p:cNvSpPr/>
          <p:nvPr/>
        </p:nvSpPr>
        <p:spPr>
          <a:xfrm>
            <a:off x="749808" y="5404104"/>
            <a:ext cx="457200" cy="457200"/>
          </a:xfrm>
          <a:prstGeom prst="ellipse">
            <a:avLst/>
          </a:prstGeom>
          <a:solidFill>
            <a:srgbClr val="1F8A5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49808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25880" y="53583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ตอบกลับ user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325880" y="56327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ราคา/หน่วย + บวกลบยอด + แหล่งอ้างอิง row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4652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Price List (ตัวอย่าง)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148840"/>
          <a:ext cx="52120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965960"/>
                <a:gridCol w="86868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รหัส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รายการ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หน่วย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ราคา/หน่วย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33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PVC-020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33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ท่อ PVC 2"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3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เส้น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4233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45.00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33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PVC-025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33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ท่อ PVC 2.5"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33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เส้น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33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68.00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33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ELB-020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33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ข้อศอก 90° 2"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33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ตัว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33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12.50</a:t>
                      </a:r>
                      <a:endParaRPr lang="en-US" sz="12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2"/>
          <p:cNvSpPr/>
          <p:nvPr/>
        </p:nvSpPr>
        <p:spPr>
          <a:xfrm>
            <a:off x="6446520" y="3611880"/>
            <a:ext cx="5212080" cy="1920240"/>
          </a:xfrm>
          <a:prstGeom prst="rect">
            <a:avLst/>
          </a:prstGeom>
          <a:solidFill>
            <a:srgbClr val="0E1F3F"/>
          </a:solidFill>
          <a:ln/>
        </p:spPr>
      </p:sp>
      <p:sp>
        <p:nvSpPr>
          <p:cNvPr id="46" name="Text 43"/>
          <p:cNvSpPr/>
          <p:nvPr/>
        </p:nvSpPr>
        <p:spPr>
          <a:xfrm>
            <a:off x="6629400" y="3703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C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คำตอบจาก Bot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629400" y="402336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ท่อ PVC 2" × 50 เส้น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45.00 × 50 = 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8C8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2,250.00 บาท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+ VAT 7% = 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8C8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2,407.50 บาท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8794A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calc โดย python_calculate() · master: PVC-020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146304" y="6437376"/>
            <a:ext cx="11588191" cy="10973"/>
          </a:xfrm>
          <a:prstGeom prst="rect">
            <a:avLst/>
          </a:prstGeom>
          <a:solidFill>
            <a:srgbClr val="E2E8F2"/>
          </a:solidFill>
          <a:ln/>
        </p:spPr>
      </p:sp>
      <p:sp>
        <p:nvSpPr>
          <p:cNvPr id="49" name="Text 4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Haadthip · EnterpriseChat PoC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Azure AI Search · AI Foundry · MS Teams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A335C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09728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071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4572000" y="2103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C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Knowledge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4617720" y="4160520"/>
            <a:ext cx="640080" cy="457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43434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Ingest HR policy / troubleshooting เข้า Azure AI Search แล้วเขียน tool ไปเรียก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335C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502920"/>
            <a:ext cx="11588191" cy="10973"/>
          </a:xfrm>
          <a:prstGeom prst="rect">
            <a:avLst/>
          </a:prstGeom>
          <a:solidFill>
            <a:srgbClr val="E2E8F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6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3 · GENERAL KNOWLEDGE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4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 → Index → Tool calling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 Azure AI Document Intelligence extract → AI Search index → Open WebUI Tool (Native Mode)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 Pipeline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240280"/>
            <a:ext cx="91440" cy="64008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" y="2331720"/>
            <a:ext cx="457200" cy="457200"/>
          </a:xfrm>
          <a:prstGeom prst="ellipse">
            <a:avLst/>
          </a:prstGeom>
          <a:solidFill>
            <a:srgbClr val="1F8A5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2951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Source files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560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HR policy PDF, MiHCM manual, IT troubleshooting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28254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990088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990088"/>
            <a:ext cx="91440" cy="640080"/>
          </a:xfrm>
          <a:prstGeom prst="rect">
            <a:avLst/>
          </a:prstGeom>
          <a:solidFill>
            <a:srgbClr val="1A335C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" y="3081528"/>
            <a:ext cx="457200" cy="457200"/>
          </a:xfrm>
          <a:prstGeom prst="ellipse">
            <a:avLst/>
          </a:prstGeom>
          <a:solidFill>
            <a:srgbClr val="1A335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9808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3044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Document Intelligence (Layout)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3310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extract text + ตารางเป็น markdown, แยกหัวข้อ/รูป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35753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739896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739896"/>
            <a:ext cx="91440" cy="640080"/>
          </a:xfrm>
          <a:prstGeom prst="rect">
            <a:avLst/>
          </a:prstGeom>
          <a:solidFill>
            <a:srgbClr val="1A335C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3831336"/>
            <a:ext cx="457200" cy="457200"/>
          </a:xfrm>
          <a:prstGeom prst="ellipse">
            <a:avLst/>
          </a:prstGeom>
          <a:solidFill>
            <a:srgbClr val="1A335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3794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Chunk + Classify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40599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แบ่ง chunk · tag category (HR, IT, policy)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" y="43251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489704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489704"/>
            <a:ext cx="91440" cy="64008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2" name="Shape 30"/>
          <p:cNvSpPr/>
          <p:nvPr/>
        </p:nvSpPr>
        <p:spPr>
          <a:xfrm>
            <a:off x="749808" y="4581144"/>
            <a:ext cx="457200" cy="457200"/>
          </a:xfrm>
          <a:prstGeom prst="ellipse">
            <a:avLst/>
          </a:prstGeom>
          <a:solidFill>
            <a:srgbClr val="D4A43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9808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≋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25880" y="45445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Embed + Upload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325880" y="48097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text-embedding-3-large → AI Search index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" y="5074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5239512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5239512"/>
            <a:ext cx="91440" cy="64008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9" name="Shape 37"/>
          <p:cNvSpPr/>
          <p:nvPr/>
        </p:nvSpPr>
        <p:spPr>
          <a:xfrm>
            <a:off x="749808" y="5330952"/>
            <a:ext cx="457200" cy="457200"/>
          </a:xfrm>
          <a:prstGeom prst="ellipse">
            <a:avLst/>
          </a:prstGeom>
          <a:solidFill>
            <a:srgbClr val="D4A43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49808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25880" y="52943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Knowledge Source + KB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325880" y="5559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searchIndex KS · เพิ่มเข้า haadthip-kb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89320" y="18288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Calling (Open WebUI Native Mode)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989320" y="2240280"/>
            <a:ext cx="5669280" cy="1280160"/>
          </a:xfrm>
          <a:prstGeom prst="rect">
            <a:avLst/>
          </a:prstGeom>
          <a:solidFill>
            <a:srgbClr val="EEF3FA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72200" y="2377440"/>
            <a:ext cx="1691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3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2450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63640" y="272491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“ลากิจ 3 วัน ต้องทำอะไรบ้าง?”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818120" y="2743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955280" y="2377440"/>
            <a:ext cx="1691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3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55280" y="2450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046720" y="272491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deploy-gpt-5.4-mini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(think → call tool)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601200" y="2743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738360" y="2377440"/>
            <a:ext cx="1691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3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38360" y="2450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829800" y="272491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search_knowledge()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A8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→ AI Search KB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989320" y="3657600"/>
            <a:ext cx="5669280" cy="1874520"/>
          </a:xfrm>
          <a:prstGeom prst="rect">
            <a:avLst/>
          </a:prstGeom>
          <a:solidFill>
            <a:srgbClr val="07142B"/>
          </a:solidFill>
          <a:ln/>
        </p:spPr>
      </p:sp>
      <p:sp>
        <p:nvSpPr>
          <p:cNvPr id="57" name="Text 55"/>
          <p:cNvSpPr/>
          <p:nvPr/>
        </p:nvSpPr>
        <p:spPr>
          <a:xfrm>
            <a:off x="6172200" y="3749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tool (≈40 บรรทัด)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17920" y="4023360"/>
            <a:ext cx="5257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Tools: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def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8C8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search_knowledge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query: str) -&gt; str: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87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"""ค้น HR / IT policy / troubleshooting"""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ks = [{knowledgeSourceName,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kind:'searchIndex'}]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POST knowledgebases(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C8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'haadthip-kb'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top_k docs → model สรุป + อ้างอิง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989320" y="5669280"/>
            <a:ext cx="56692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4A43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72200" y="57424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ทำไมใช้ Tool ไม่ใช่ Pipe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172200" y="5989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3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model เลือก tool เอง · ใช้หลาย tool พร้อมกันได้ (KB + web search) · เปลี่ยน model จาก UI · โค้ดน้อยกว่า ~10×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146304" y="6437376"/>
            <a:ext cx="11588191" cy="10973"/>
          </a:xfrm>
          <a:prstGeom prst="rect">
            <a:avLst/>
          </a:prstGeom>
          <a:solidFill>
            <a:srgbClr val="E2E8F2"/>
          </a:solidFill>
          <a:ln/>
        </p:spPr>
      </p:sp>
      <p:sp>
        <p:nvSpPr>
          <p:cNvPr id="63" name="Text 6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Haadthip · EnterpriseChat PoC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4A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Azure AI Search · AI Foundry · MS Teams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640080" cy="457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สรุป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สาม use cases ใช้ Foundation เดียวกัน — ต่างกันที่ data source, channel และ tool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11880" cy="2606040"/>
          </a:xfrm>
          <a:prstGeom prst="rect">
            <a:avLst/>
          </a:prstGeom>
          <a:solidFill>
            <a:srgbClr val="0E1F3F"/>
          </a:solidFill>
          <a:ln w="9525">
            <a:solidFill>
              <a:srgbClr val="D4A4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E-Expense FAQ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·  MS Teams channel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·  FAQ hybrid 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·  42 docs · 11 หมวด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2057400"/>
            <a:ext cx="3611880" cy="2606040"/>
          </a:xfrm>
          <a:prstGeom prst="rect">
            <a:avLst/>
          </a:prstGeom>
          <a:solidFill>
            <a:srgbClr val="0E1F3F"/>
          </a:solidFill>
          <a:ln w="9525">
            <a:solidFill>
              <a:srgbClr val="1F8A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6344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ผู้ช่วยจัดซื้อ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337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·  อ่าน master Excel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3703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·  Python Executor คำนวณ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4069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·  Tool-calling LLM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2057400"/>
            <a:ext cx="3611880" cy="2606040"/>
          </a:xfrm>
          <a:prstGeom prst="rect">
            <a:avLst/>
          </a:prstGeom>
          <a:solidFill>
            <a:srgbClr val="0E1F3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5039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Knowledge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0" y="3337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·  Doc Intelligence ingest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3703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·  AI Search KB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03920" y="4069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·  Tool / Native Mode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983480"/>
            <a:ext cx="11091672" cy="1234440"/>
          </a:xfrm>
          <a:prstGeom prst="rect">
            <a:avLst/>
          </a:prstGeom>
          <a:solidFill>
            <a:srgbClr val="1A335C"/>
          </a:solidFill>
          <a:ln w="9525">
            <a:solidFill>
              <a:srgbClr val="D4A4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074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C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FOUNDATION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5440680"/>
            <a:ext cx="2011680" cy="502920"/>
          </a:xfrm>
          <a:prstGeom prst="rect">
            <a:avLst/>
          </a:prstGeom>
          <a:solidFill>
            <a:srgbClr val="07142B"/>
          </a:solidFill>
          <a:ln w="6350">
            <a:solidFill>
              <a:srgbClr val="DCE6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440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Azure AI Search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35224" y="5440680"/>
            <a:ext cx="2011680" cy="502920"/>
          </a:xfrm>
          <a:prstGeom prst="rect">
            <a:avLst/>
          </a:prstGeom>
          <a:solidFill>
            <a:srgbClr val="07142B"/>
          </a:solidFill>
          <a:ln w="6350">
            <a:solidFill>
              <a:srgbClr val="DCE6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35224" y="5440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Azure AI Foundry (GPT-5.4)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93208" y="5440680"/>
            <a:ext cx="2011680" cy="502920"/>
          </a:xfrm>
          <a:prstGeom prst="rect">
            <a:avLst/>
          </a:prstGeom>
          <a:solidFill>
            <a:srgbClr val="07142B"/>
          </a:solidFill>
          <a:ln w="6350">
            <a:solidFill>
              <a:srgbClr val="DCE6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93208" y="5440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LiteLLM proxy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51192" y="5440680"/>
            <a:ext cx="2011680" cy="502920"/>
          </a:xfrm>
          <a:prstGeom prst="rect">
            <a:avLst/>
          </a:prstGeom>
          <a:solidFill>
            <a:srgbClr val="07142B"/>
          </a:solidFill>
          <a:ln w="6350">
            <a:solidFill>
              <a:srgbClr val="DCE6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51192" y="5440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Open WebUI / MS Teams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409176" y="5440680"/>
            <a:ext cx="2011680" cy="502920"/>
          </a:xfrm>
          <a:prstGeom prst="rect">
            <a:avLst/>
          </a:prstGeom>
          <a:solidFill>
            <a:srgbClr val="07142B"/>
          </a:solidFill>
          <a:ln w="6350">
            <a:solidFill>
              <a:srgbClr val="DCE6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09176" y="5440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6F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Managed Identity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8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Next: เริ่มจาก E-Expense (knowledge พร้อม) → จัดซื้อ (Excel + Python) → General KB ingest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EnterpriseChat — AI Chatbot Use Cases</dc:title>
  <dc:subject>PptxGenJS Presentation</dc:subject>
  <dc:creator>Haadthip · EnterpriseChat PoC</dc:creator>
  <cp:lastModifiedBy>Haadthip · EnterpriseChat PoC</cp:lastModifiedBy>
  <cp:revision>1</cp:revision>
  <dcterms:created xsi:type="dcterms:W3CDTF">2026-07-13T06:14:51Z</dcterms:created>
  <dcterms:modified xsi:type="dcterms:W3CDTF">2026-07-13T06:14:51Z</dcterms:modified>
</cp:coreProperties>
</file>